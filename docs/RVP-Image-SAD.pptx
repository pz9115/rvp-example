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2E03B9A-FDBB-4BBB-B97A-693500AE815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example searches for a matching 16 x 16 grayscale block in two synthetic 96 x 80 images. SAD adds the absolute difference of corresponding unsigned 8-bit pixels. Lower is a better match. The search evaluates 289 candidate positions and recovers the known shift (+5, -3), with SAD 0. All candidate costs are checked independently. Block matching is a building block for motion estimation, not a complete video codec. Source: examples/rvp-image-sad/ and VALIDATION.md in https://github.com/pz9115/RVP-Example.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8000" cy="48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an excerpt of sad_row_p in examples/rvp-image-sad/sad-p.c. The scalar reference computes the same unsigned absolute differences one pixel at a time. The P loop loads eight pixels from each row and uses a packed byte SAD reduction. The generated arithmetic instruction is pabdsumu.b; no inline assembly is used. The sum is uint64_t and x starts at zero in the full function. The draft load intrinsic takes a non-const pointer but only reads memory. Eight-byte alignment enables ordinary aligned loads; a strict-alignment-safe fallback handles unaligned inputs. A scalar tail handles widths not divisible by eight. P 0.6 remains a draft, so API and encoding details can change.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8000" cy="680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Measured 16 October 2026. Source: VALIDATION.md and build/acceptance/O3/result.json in RVP-Example. Counts are executed guest instructions within one 16 x 16 SAD kernel call, including return, not the whole image search. QEMU traces use -one-insn-per-tb -d exec,nochain and symbol-address filtering. Two traces per case agree. Aligned: scalar 2527, P 571, a 77.4% instruction reduction (shown rounded to 77%). Unaligned: scalar 2524, P 1899, a 24.8% reduction (rounded to 25%). Each P call executes 32 packed SAD instructions. Alignment strongly affects load generation; the fallback remains safe for strict-alignment implementations. Both paths use GCC 16.1.0 and common -O3 flags, without LTO or automatic vectorization. Scalar march: rv64gc_zba_zbb; P march: rv64gc_p0p6. Code size is a tradeoff: scalar 78 bytes versus P 450 bytes, including alignment paths and tails. QEMU is version 11.1.50 with local P support. These are workload-specific guest instruction counts, not cycles, hardware throughput or application speedup. Hardware performance has not been measured.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8000" cy="62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repository includes the scalar and intrinsic C kernels, build and run scripts, a notebook, and independent image validation. Python only drives the tools and provides an independent oracle; the image-processing kernel is C. Prebuilt P-enabled tools are included for x86_64 Linux. Run bash scripts/present.sh; rebuilding the tools is optional and documented in docs/BUILD.md. Run bash scripts/acceptance.sh for O2, O3 and Os checks and negative controls. Each optimization configuration passes 82,576 C checks and 289 independently recomputed image costs. Negative controls catch P-disabled execution and a modified input pixel. Tested versions: GCC 16.1.0, Binutils 2.47, glibc 2.43 and QEMU 11.1.50 with local P support, on x86_64 Ubuntu 24.04.2 / glibc 2.39 under WSL2. This is validation of the provided static RV64 C example, not certification of the full P ISA or other toolchain configurations. P 0.6 is a developed draft, not ratified. Code and tutorial license: MIT. See VERSION.json, VALIDATION.md and licenses/NOTICE for details.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EE06A7-8226-462C-B07E-144B4DB1AA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95C119-C6C8-4AE8-ADC9-472156A1B0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1365D0C-833A-4858-96E8-5C86136126F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57200" y="338400"/>
            <a:ext cx="502920" cy="504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5400" bIns="5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02920" y="594360"/>
            <a:ext cx="111556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3100" spc="-1" strike="noStrike">
                <a:solidFill>
                  <a:srgbClr val="162b46"/>
                </a:solidFill>
                <a:latin typeface="Arial"/>
              </a:rPr>
              <a:t>Image block matching with RV64 P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02920" y="124344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900" spc="-1" strike="noStrike">
                <a:solidFill>
                  <a:srgbClr val="52667a"/>
                </a:solidFill>
                <a:latin typeface="Arial"/>
              </a:rPr>
              <a:t>SAD = sum of absolute pixel differences. The lowest cost identifies the match.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02920" y="6428160"/>
            <a:ext cx="11155680" cy="108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4200" bIns="-34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02920" y="6519600"/>
            <a:ext cx="85039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100" spc="-1" strike="noStrike">
                <a:solidFill>
                  <a:srgbClr val="52667a"/>
                </a:solidFill>
                <a:latin typeface="Arial"/>
              </a:rPr>
              <a:t>RVP-Example  |  P 0.6 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255960" y="1737360"/>
            <a:ext cx="11685960" cy="438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57200" y="338400"/>
            <a:ext cx="502920" cy="504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5400" bIns="5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02920" y="594360"/>
            <a:ext cx="111556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3100" spc="-1" strike="noStrike">
                <a:solidFill>
                  <a:srgbClr val="162b46"/>
                </a:solidFill>
                <a:latin typeface="Arial"/>
              </a:rPr>
              <a:t>Eight grayscale pixels per packed operation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02920" y="124344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900" spc="-1" strike="noStrike">
                <a:solidFill>
                  <a:srgbClr val="52667a"/>
                </a:solidFill>
                <a:latin typeface="Arial"/>
              </a:rPr>
              <a:t>The image kernel is C. No inline assembly is required.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02920" y="6428160"/>
            <a:ext cx="11155680" cy="108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4200" bIns="-34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02920" y="6519600"/>
            <a:ext cx="85039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100" spc="-1" strike="noStrike">
                <a:solidFill>
                  <a:srgbClr val="52667a"/>
                </a:solidFill>
                <a:latin typeface="Arial"/>
              </a:rPr>
              <a:t>RVP-Example  |  P 0.6 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02920" y="1828800"/>
            <a:ext cx="7680960" cy="322776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04160" y="201168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#include &lt;riscv_packed_simd.h&gt;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04160" y="228600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04160" y="256032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for (; width - x &gt;= 8; x += 8)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04160" y="283464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{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04160" y="310896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uint8x8_t av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04160" y="338328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  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__riscv_pld_u8x8 ((uint8_t *) (a + x));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04160" y="365760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uint8x8_t bv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04160" y="393192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  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__riscv_pld_u8x8 ((uint8_t *) (b + x));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04160" y="420624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600" spc="-1" strike="noStrike">
                <a:solidFill>
                  <a:srgbClr val="087f8c"/>
                </a:solidFill>
                <a:latin typeface="Courier New"/>
              </a:rPr>
              <a:t>    </a:t>
            </a:r>
            <a:r>
              <a:rPr b="1" sz="1600" spc="-1" strike="noStrike">
                <a:solidFill>
                  <a:srgbClr val="087f8c"/>
                </a:solidFill>
                <a:latin typeface="Courier New"/>
              </a:rPr>
              <a:t>sum += __riscv_pabdsumu_u8x8_u64 (av, bv);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04160" y="4480560"/>
            <a:ext cx="73062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  </a:t>
            </a:r>
            <a:r>
              <a:rPr b="0" sz="1600" spc="-1" strike="noStrike">
                <a:solidFill>
                  <a:srgbClr val="243b53"/>
                </a:solidFill>
                <a:latin typeface="Courier New"/>
              </a:rPr>
              <a:t>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595360" y="2011680"/>
            <a:ext cx="29260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200" spc="-1" strike="noStrike">
                <a:solidFill>
                  <a:srgbClr val="087f8c"/>
                </a:solidFill>
                <a:latin typeface="Arial"/>
              </a:rPr>
              <a:t>LOAD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595360" y="2313360"/>
            <a:ext cx="30175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Read eight pixels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from each image.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595360" y="3026520"/>
            <a:ext cx="29260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200" spc="-1" strike="noStrike">
                <a:solidFill>
                  <a:srgbClr val="087f8c"/>
                </a:solidFill>
                <a:latin typeface="Arial"/>
              </a:rPr>
              <a:t>REDUCE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595360" y="3328560"/>
            <a:ext cx="30175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Sum eight absolute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byte differences.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595360" y="4041720"/>
            <a:ext cx="29260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200" spc="-1" strike="noStrike">
                <a:solidFill>
                  <a:srgbClr val="087f8c"/>
                </a:solidFill>
                <a:latin typeface="Arial"/>
              </a:rPr>
              <a:t>ACCUMULATE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8595360" y="4343400"/>
            <a:ext cx="30175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Add the result to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sz="2000" spc="-1" strike="noStrike">
                <a:solidFill>
                  <a:srgbClr val="243b53"/>
                </a:solidFill>
                <a:latin typeface="Arial"/>
              </a:rPr>
              <a:t>a 64-bit total.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30280" y="534924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2300" spc="-1" strike="noStrike">
                <a:solidFill>
                  <a:srgbClr val="087f8c"/>
                </a:solidFill>
                <a:latin typeface="Arial"/>
              </a:rPr>
              <a:t>Generated instruction: pabdsumu.b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30280" y="587052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900" spc="-1" strike="noStrike">
                <a:solidFill>
                  <a:srgbClr val="52667a"/>
                </a:solidFill>
                <a:latin typeface="Arial"/>
              </a:rPr>
              <a:t>The full C kernel handles alignment, row strides and scalar tails.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57200" y="338400"/>
            <a:ext cx="502920" cy="504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5400" bIns="5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02920" y="594360"/>
            <a:ext cx="111556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3100" spc="-1" strike="noStrike">
                <a:solidFill>
                  <a:srgbClr val="162b46"/>
                </a:solidFill>
                <a:latin typeface="Arial"/>
              </a:rPr>
              <a:t>Fewer instructions for image SAD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02920" y="124344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900" spc="-1" strike="noStrike">
                <a:solidFill>
                  <a:srgbClr val="52667a"/>
                </a:solidFill>
                <a:latin typeface="Arial"/>
              </a:rPr>
              <a:t>Executed QEMU guest instructions per 16 × 16 kernel call · -O3 · lower is better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02920" y="6428160"/>
            <a:ext cx="11155680" cy="108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4200" bIns="-34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02920" y="6519600"/>
            <a:ext cx="85039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100" spc="-1" strike="noStrike">
                <a:solidFill>
                  <a:srgbClr val="52667a"/>
                </a:solidFill>
                <a:latin typeface="Arial"/>
              </a:rPr>
              <a:t>RVP-Example  |  P 0.6 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726680" y="1828800"/>
            <a:ext cx="173880" cy="173880"/>
          </a:xfrm>
          <a:prstGeom prst="rect">
            <a:avLst/>
          </a:prstGeom>
          <a:solidFill>
            <a:srgbClr val="162b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992000" y="1774080"/>
            <a:ext cx="17830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800" spc="-1" strike="noStrike">
                <a:solidFill>
                  <a:srgbClr val="162b46"/>
                </a:solidFill>
                <a:latin typeface="Arial"/>
              </a:rPr>
              <a:t>Scalar 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601200" y="1828800"/>
            <a:ext cx="173880" cy="17388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866520" y="1774080"/>
            <a:ext cx="17830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800" spc="-1" strike="noStrike">
                <a:solidFill>
                  <a:srgbClr val="087f8c"/>
                </a:solidFill>
                <a:latin typeface="Arial"/>
              </a:rPr>
              <a:t>P intrinsics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143000" y="5422320"/>
            <a:ext cx="10195560" cy="72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7800" bIns="-37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02920" y="5303520"/>
            <a:ext cx="5486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sz="1500" spc="-1" strike="noStrike">
                <a:solidFill>
                  <a:srgbClr val="52667a"/>
                </a:solidFill>
                <a:latin typeface="Arial"/>
              </a:rPr>
              <a:t>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143000" y="4599360"/>
            <a:ext cx="10195560" cy="72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7800" bIns="-37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02920" y="4480560"/>
            <a:ext cx="5486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sz="1500" spc="-1" strike="noStrike">
                <a:solidFill>
                  <a:srgbClr val="52667a"/>
                </a:solidFill>
                <a:latin typeface="Arial"/>
              </a:rPr>
              <a:t>1,000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143000" y="3776400"/>
            <a:ext cx="10195560" cy="72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7800" bIns="-37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02920" y="3657600"/>
            <a:ext cx="5486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sz="1500" spc="-1" strike="noStrike">
                <a:solidFill>
                  <a:srgbClr val="52667a"/>
                </a:solidFill>
                <a:latin typeface="Arial"/>
              </a:rPr>
              <a:t>2,000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143000" y="2953440"/>
            <a:ext cx="10195560" cy="72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7800" bIns="-37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02920" y="2834640"/>
            <a:ext cx="5486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r>
              <a:rPr b="0" sz="1500" spc="-1" strike="noStrike">
                <a:solidFill>
                  <a:srgbClr val="52667a"/>
                </a:solidFill>
                <a:latin typeface="Arial"/>
              </a:rPr>
              <a:t>3,000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130480" y="2359080"/>
            <a:ext cx="34747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100" spc="-1" strike="noStrike">
                <a:solidFill>
                  <a:srgbClr val="087f8c"/>
                </a:solidFill>
                <a:latin typeface="Arial"/>
              </a:rPr>
              <a:t>77% fewer instructions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743200" y="3342600"/>
            <a:ext cx="914400" cy="2079720"/>
          </a:xfrm>
          <a:prstGeom prst="rect">
            <a:avLst/>
          </a:prstGeom>
          <a:solidFill>
            <a:srgbClr val="162b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514600" y="2976840"/>
            <a:ext cx="1371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300" spc="-1" strike="noStrike">
                <a:solidFill>
                  <a:srgbClr val="162b46"/>
                </a:solidFill>
                <a:latin typeface="Arial"/>
              </a:rPr>
              <a:t>2,527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886200" y="4952520"/>
            <a:ext cx="914400" cy="4698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657600" y="4586760"/>
            <a:ext cx="1371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300" spc="-1" strike="noStrike">
                <a:solidFill>
                  <a:srgbClr val="087f8c"/>
                </a:solidFill>
                <a:latin typeface="Arial"/>
              </a:rPr>
              <a:t>571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514600" y="5541120"/>
            <a:ext cx="2514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1900" spc="-1" strike="noStrike">
                <a:solidFill>
                  <a:srgbClr val="243b53"/>
                </a:solidFill>
                <a:latin typeface="Arial"/>
              </a:rPr>
              <a:t>8-byte aligned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931080" y="2359080"/>
            <a:ext cx="34747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100" spc="-1" strike="noStrike">
                <a:solidFill>
                  <a:srgbClr val="087f8c"/>
                </a:solidFill>
                <a:latin typeface="Arial"/>
              </a:rPr>
              <a:t>25% fewer instructions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543800" y="3345120"/>
            <a:ext cx="914400" cy="2077200"/>
          </a:xfrm>
          <a:prstGeom prst="rect">
            <a:avLst/>
          </a:prstGeom>
          <a:solidFill>
            <a:srgbClr val="162b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315200" y="2979360"/>
            <a:ext cx="1371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300" spc="-1" strike="noStrike">
                <a:solidFill>
                  <a:srgbClr val="162b46"/>
                </a:solidFill>
                <a:latin typeface="Arial"/>
              </a:rPr>
              <a:t>2,524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686800" y="3859560"/>
            <a:ext cx="914400" cy="156276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458200" y="3493800"/>
            <a:ext cx="1371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300" spc="-1" strike="noStrike">
                <a:solidFill>
                  <a:srgbClr val="087f8c"/>
                </a:solidFill>
                <a:latin typeface="Arial"/>
              </a:rPr>
              <a:t>1,899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315200" y="5541120"/>
            <a:ext cx="25146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1900" spc="-1" strike="noStrike">
                <a:solidFill>
                  <a:srgbClr val="243b53"/>
                </a:solidFill>
                <a:latin typeface="Arial"/>
              </a:rPr>
              <a:t>Unaligned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30280" y="5934600"/>
            <a:ext cx="109728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400" spc="-1" strike="noStrike">
                <a:solidFill>
                  <a:srgbClr val="52667a"/>
                </a:solidFill>
                <a:latin typeface="Arial"/>
              </a:rPr>
              <a:t>Same compiler and common flags; no auto-vectorization or LTO.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30280" y="6181200"/>
            <a:ext cx="109728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500" spc="-1" strike="noStrike">
                <a:solidFill>
                  <a:srgbClr val="b84e2b"/>
                </a:solidFill>
                <a:latin typeface="Arial"/>
              </a:rPr>
              <a:t>Instruction counts are not cycles or hardware speedup.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" y="338400"/>
            <a:ext cx="502920" cy="50400"/>
          </a:xfrm>
          <a:prstGeom prst="rect">
            <a:avLst/>
          </a:prstGeom>
          <a:solidFill>
            <a:srgbClr val="087f8c"/>
          </a:solidFill>
          <a:ln w="0">
            <a:noFill/>
          </a:ln>
        </p:spPr>
        <p:txBody>
          <a:bodyPr lIns="90000" rIns="90000" tIns="5400" bIns="54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02920" y="594360"/>
            <a:ext cx="111556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3100" spc="-1" strike="noStrike">
                <a:solidFill>
                  <a:srgbClr val="162b46"/>
                </a:solidFill>
                <a:latin typeface="Arial"/>
              </a:rPr>
              <a:t>From C source to a reproducible demo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02920" y="1243440"/>
            <a:ext cx="110642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900" spc="-1" strike="noStrike">
                <a:solidFill>
                  <a:srgbClr val="52667a"/>
                </a:solidFill>
                <a:latin typeface="Arial"/>
              </a:rPr>
              <a:t>P-enabled GCC, Binutils and QEMU support this static RV64 C example.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2920" y="6428160"/>
            <a:ext cx="11155680" cy="108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4200" bIns="-34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02920" y="6519600"/>
            <a:ext cx="85039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100" spc="-1" strike="noStrike">
                <a:solidFill>
                  <a:srgbClr val="52667a"/>
                </a:solidFill>
                <a:latin typeface="Arial"/>
              </a:rPr>
              <a:t>RVP-Example  |  P 0.6 draft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02920" y="1892880"/>
            <a:ext cx="2468880" cy="1106280"/>
          </a:xfrm>
          <a:prstGeom prst="rect">
            <a:avLst/>
          </a:prstGeom>
          <a:solidFill>
            <a:srgbClr val="eef5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21720" y="2084760"/>
            <a:ext cx="22312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200" spc="-1" strike="noStrike">
                <a:solidFill>
                  <a:srgbClr val="162b46"/>
                </a:solidFill>
                <a:latin typeface="Arial"/>
              </a:rPr>
              <a:t>C source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94360" y="2624400"/>
            <a:ext cx="2286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500" spc="-1" strike="noStrike">
                <a:solidFill>
                  <a:srgbClr val="52667a"/>
                </a:solidFill>
                <a:latin typeface="Arial"/>
              </a:rPr>
              <a:t>Scalar + P intrinsics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035880" y="2221920"/>
            <a:ext cx="3200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500" spc="-1" strike="noStrike">
                <a:solidFill>
                  <a:srgbClr val="087f8c"/>
                </a:solidFill>
                <a:latin typeface="Arial"/>
              </a:rPr>
              <a:t>→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383280" y="1892880"/>
            <a:ext cx="2468880" cy="1106280"/>
          </a:xfrm>
          <a:prstGeom prst="rect">
            <a:avLst/>
          </a:prstGeom>
          <a:solidFill>
            <a:srgbClr val="eef5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502080" y="2084760"/>
            <a:ext cx="22312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200" spc="-1" strike="noStrike">
                <a:solidFill>
                  <a:srgbClr val="162b46"/>
                </a:solidFill>
                <a:latin typeface="Arial"/>
              </a:rPr>
              <a:t>GCC + Binutils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474720" y="2624400"/>
            <a:ext cx="2286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500" spc="-1" strike="noStrike">
                <a:solidFill>
                  <a:srgbClr val="52667a"/>
                </a:solidFill>
                <a:latin typeface="Arial"/>
              </a:rPr>
              <a:t>Compile and link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916240" y="2221920"/>
            <a:ext cx="3200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500" spc="-1" strike="noStrike">
                <a:solidFill>
                  <a:srgbClr val="087f8c"/>
                </a:solidFill>
                <a:latin typeface="Arial"/>
              </a:rPr>
              <a:t>→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263640" y="1892880"/>
            <a:ext cx="2468880" cy="1106280"/>
          </a:xfrm>
          <a:prstGeom prst="rect">
            <a:avLst/>
          </a:prstGeom>
          <a:solidFill>
            <a:srgbClr val="eef5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382440" y="2084760"/>
            <a:ext cx="22312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200" spc="-1" strike="noStrike">
                <a:solidFill>
                  <a:srgbClr val="162b46"/>
                </a:solidFill>
                <a:latin typeface="Arial"/>
              </a:rPr>
              <a:t>RV64 binary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355080" y="2624400"/>
            <a:ext cx="2286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500" spc="-1" strike="noStrike">
                <a:solidFill>
                  <a:srgbClr val="52667a"/>
                </a:solidFill>
                <a:latin typeface="Arial"/>
              </a:rPr>
              <a:t>Static Linux / lp64d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796600" y="2221920"/>
            <a:ext cx="32004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2500" spc="-1" strike="noStrike">
                <a:solidFill>
                  <a:srgbClr val="087f8c"/>
                </a:solidFill>
                <a:latin typeface="Arial"/>
              </a:rPr>
              <a:t>→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9144000" y="1892880"/>
            <a:ext cx="2468880" cy="1106280"/>
          </a:xfrm>
          <a:prstGeom prst="rect">
            <a:avLst/>
          </a:prstGeom>
          <a:solidFill>
            <a:srgbClr val="eef5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262800" y="2084760"/>
            <a:ext cx="223128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2200" spc="-1" strike="noStrike">
                <a:solidFill>
                  <a:srgbClr val="162b46"/>
                </a:solidFill>
                <a:latin typeface="Arial"/>
              </a:rPr>
              <a:t>QEMU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9235440" y="2624400"/>
            <a:ext cx="2286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500" spc="-1" strike="noStrike">
                <a:solidFill>
                  <a:srgbClr val="52667a"/>
                </a:solidFill>
                <a:latin typeface="Arial"/>
              </a:rPr>
              <a:t>Execute and trace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94360" y="36576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3300" spc="-1" strike="noStrike">
                <a:solidFill>
                  <a:srgbClr val="087f8c"/>
                </a:solidFill>
                <a:latin typeface="Arial"/>
              </a:rPr>
              <a:t>82,576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94360" y="43524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700" spc="-1" strike="noStrike">
                <a:solidFill>
                  <a:srgbClr val="243b53"/>
                </a:solidFill>
                <a:latin typeface="Arial"/>
              </a:rPr>
              <a:t>C checks per build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370760" y="36576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3300" spc="-1" strike="noStrike">
                <a:solidFill>
                  <a:srgbClr val="087f8c"/>
                </a:solidFill>
                <a:latin typeface="Arial"/>
              </a:rPr>
              <a:t>289 / 289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370760" y="43524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700" spc="-1" strike="noStrike">
                <a:solidFill>
                  <a:srgbClr val="243b53"/>
                </a:solidFill>
                <a:latin typeface="Arial"/>
              </a:rPr>
              <a:t>Image search costs matched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147160" y="36576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sz="3300" spc="-1" strike="noStrike">
                <a:solidFill>
                  <a:srgbClr val="087f8c"/>
                </a:solidFill>
                <a:latin typeface="Arial"/>
              </a:rPr>
              <a:t>O2 · O3 · Os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147160" y="4352400"/>
            <a:ext cx="342000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sz="1700" spc="-1" strike="noStrike">
                <a:solidFill>
                  <a:srgbClr val="243b53"/>
                </a:solidFill>
                <a:latin typeface="Arial"/>
              </a:rPr>
              <a:t>All three builds pass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30280" y="5020200"/>
            <a:ext cx="11064240" cy="10800"/>
          </a:xfrm>
          <a:prstGeom prst="rect">
            <a:avLst/>
          </a:prstGeom>
          <a:solidFill>
            <a:srgbClr val="d6e1e8"/>
          </a:solidFill>
          <a:ln w="0">
            <a:noFill/>
          </a:ln>
        </p:spPr>
        <p:txBody>
          <a:bodyPr lIns="90000" rIns="90000" tIns="-34200" bIns="-34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30280" y="5394960"/>
            <a:ext cx="71323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2500" spc="-1" strike="noStrike">
                <a:solidFill>
                  <a:srgbClr val="087f8c"/>
                </a:solidFill>
                <a:latin typeface="Arial"/>
              </a:rPr>
              <a:t>github.com/pz9115/RVP-Example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30280" y="5925240"/>
            <a:ext cx="71323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800" spc="-1" strike="noStrike">
                <a:solidFill>
                  <a:srgbClr val="52667a"/>
                </a:solidFill>
                <a:latin typeface="Arial"/>
              </a:rPr>
              <a:t>C code, build instructions and notebook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138160" y="5413320"/>
            <a:ext cx="347472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sz="1200" spc="-1" strike="noStrike">
                <a:solidFill>
                  <a:srgbClr val="087f8c"/>
                </a:solidFill>
                <a:latin typeface="Arial"/>
              </a:rPr>
              <a:t>RUN WITH THE INCLUDED TOOLS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138160" y="5843160"/>
            <a:ext cx="3566160" cy="42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sz="1500" spc="-1" strike="noStrike">
                <a:solidFill>
                  <a:srgbClr val="243b53"/>
                </a:solidFill>
                <a:latin typeface="Courier New"/>
              </a:rPr>
              <a:t>bash scripts/present.sh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RVP-Example</dc:creator>
  <dc:description>Image SAD example, measurements from 16 October 2026. P 0.6 draft. QEMU instruction counts are not hardware performance measurements.</dc:description>
  <dc:language>en-US</dc:language>
  <cp:lastModifiedBy/>
  <dcterms:modified xsi:type="dcterms:W3CDTF">2026-10-16T20:25:43Z</dcterms:modified>
  <cp:revision>1</cp:revision>
  <dc:subject>C intrinsics for image block matching</dc:subject>
  <dc:title>RVP-Example: RV64 P intrinsics in C</dc:title>
</cp:coreProperties>
</file>